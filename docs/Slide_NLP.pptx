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hông có Kiểu, Không có Lướ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Kiểu Tối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Không có Kiểu, Lưới Bảng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c:style val="2"/>
  <c:chart>
    <c:title>
      <c:tx>
        <c:rich>
          <a:bodyPr/>
          <a:lstStyle/>
          <a:p>
            <a:r>
              <a:rPr lang="vi-VN"/>
              <a:t>Accuracy và Macro-F1 trên validation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Linear
SVM</c:v>
                </c:pt>
                <c:pt idx="2">
                  <c:v>Naive
Bayes</c:v>
                </c:pt>
                <c:pt idx="3">
                  <c:v>Dummy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0.8629</c:v>
                </c:pt>
                <c:pt idx="1">
                  <c:v>0.86680000000000001</c:v>
                </c:pt>
                <c:pt idx="2">
                  <c:v>0.83589999999999998</c:v>
                </c:pt>
                <c:pt idx="3">
                  <c:v>0.62160000000000004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40-4936-97E8-51FA30B5F9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Macro-F1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Linear
SVM</c:v>
                </c:pt>
                <c:pt idx="2">
                  <c:v>Naive
Bayes</c:v>
                </c:pt>
                <c:pt idx="3">
                  <c:v>Dummy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0.80579999999999996</c:v>
                </c:pt>
                <c:pt idx="1">
                  <c:v>0.80210000000000004</c:v>
                </c:pt>
                <c:pt idx="2">
                  <c:v>0.74580000000000002</c:v>
                </c:pt>
                <c:pt idx="3">
                  <c:v>0.25559999999999999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40-4936-97E8-51FA30B5F9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98696" y="502920"/>
            <a:ext cx="6072688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ĐẠI HỌC PHENIKAA • TRƯỜNG CÔNG NGHỆ THÔNG TIN PHENIKAA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7933" y="1143000"/>
            <a:ext cx="4742773" cy="113877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4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CẢM XÚC</a:t>
            </a:r>
          </a:p>
          <a:p>
            <a:pPr algn="ctr"/>
            <a:r>
              <a:rPr sz="34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VĂN BẢN TÀI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9566" y="2331720"/>
            <a:ext cx="5330947" cy="38472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trên báo cáo thường niên của doanh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2014" y="2788920"/>
            <a:ext cx="5246052" cy="27699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Financial Text Sentiment Analysis and Its Application to Corporate Annual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8987" y="3977639"/>
            <a:ext cx="5334986" cy="78483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Môn: Xử lý ngôn ngữ tự nhiên</a:t>
            </a:r>
          </a:p>
          <a:p>
            <a:pPr algn="ctr"/>
            <a:r>
              <a:rPr sz="15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Giảng viên: ThS. Nguyễn Văn Sơn</a:t>
            </a:r>
          </a:p>
          <a:p>
            <a:pPr algn="ctr"/>
            <a:r>
              <a:rPr sz="15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Nhóm 7: Nguyễn Tùng Dương • Ngô Quang Thiện • Phạm Thế Duy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0710" y="5074920"/>
            <a:ext cx="3511539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K18 • CSE703065-2-3-25(N01) • Hà Nội,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9999" y="6556248"/>
            <a:ext cx="150041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4236096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Thành viên và phân công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99999" y="6556248"/>
            <a:ext cx="150041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176959"/>
              </p:ext>
            </p:extLst>
          </p:nvPr>
        </p:nvGraphicFramePr>
        <p:xfrm>
          <a:off x="594360" y="960120"/>
          <a:ext cx="10972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Thành </a:t>
                      </a:r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viên</a:t>
                      </a:r>
                      <a:endParaRPr sz="15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Vai </a:t>
                      </a:r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trò</a:t>
                      </a:r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endParaRPr sz="15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 </a:t>
                      </a:r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việc</a:t>
                      </a:r>
                      <a:endParaRPr sz="15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Tỷ</a:t>
                      </a:r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trọng</a:t>
                      </a:r>
                      <a:endParaRPr sz="15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l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Nguyễn Tùng Dương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tiền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ứng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endParaRPr sz="15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thập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nhãn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tiền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EDA, chia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viết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phương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pháp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thiết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demo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Phạm Thế Duy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endParaRPr sz="15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Baseline,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GridSearchCV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lựa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chọn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test, confusion matrix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tích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endParaRPr sz="15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33%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Ngô Quang Thiện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 cáo và trình bày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PDF,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trực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hóa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slide,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bảo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vệ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cuối</a:t>
                      </a:r>
                      <a:endParaRPr sz="15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3469861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736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toán và 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99999" y="6556248"/>
            <a:ext cx="150041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885539" cy="2099549"/>
          </a:xfrm>
          <a:prstGeom prst="rect">
            <a:avLst/>
          </a:prstGeom>
          <a:noFill/>
        </p:spPr>
        <p:txBody>
          <a:bodyPr wrap="none" lIns="73152" tIns="18288" rIns="45720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Anh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miền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PDF.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Negative, Neutral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Positive.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 NLP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 Macro-F1.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khuyến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sz="18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 descr="fig_1_cell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107" y="2905083"/>
            <a:ext cx="5713088" cy="33787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8565" y="6324939"/>
            <a:ext cx="6784871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Neutral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Accuracy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lệch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Macro-F1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sz="1400" b="0" i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2580194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sz="3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sz="3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sz="3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endParaRPr sz="3000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99999" y="6556248"/>
            <a:ext cx="150041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05840"/>
            <a:ext cx="2743200" cy="502920"/>
          </a:xfrm>
          <a:prstGeom prst="roundRect">
            <a:avLst/>
          </a:prstGeom>
          <a:solidFill>
            <a:srgbClr val="E6F0FA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024128"/>
            <a:ext cx="6565259" cy="3539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sắc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743200" cy="502920"/>
          </a:xfrm>
          <a:prstGeom prst="roundRect">
            <a:avLst/>
          </a:prstGeom>
          <a:solidFill>
            <a:srgbClr val="E6F0FA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847088"/>
            <a:ext cx="5831083" cy="3539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Biến câu thành vector dựa trên tần suất và độ hiếm của từ/cụm từ.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51760"/>
            <a:ext cx="2743200" cy="502920"/>
          </a:xfrm>
          <a:prstGeom prst="roundRect">
            <a:avLst/>
          </a:prstGeom>
          <a:solidFill>
            <a:srgbClr val="E6F0FA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670048"/>
            <a:ext cx="5302092" cy="3539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Dùng unigram và bigram để giữ một phần ngữ cảnh cục bộ.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74720"/>
            <a:ext cx="2743200" cy="502920"/>
          </a:xfrm>
          <a:prstGeom prst="roundRect">
            <a:avLst/>
          </a:prstGeom>
          <a:solidFill>
            <a:srgbClr val="E6F0FA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Macro-F1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493008"/>
            <a:ext cx="5938805" cy="3539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Trung bình F1 đều giữa các lớp; phù hợp với dữ liệu mất cân bằng.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97680"/>
            <a:ext cx="2743200" cy="502920"/>
          </a:xfrm>
          <a:prstGeom prst="roundRect">
            <a:avLst/>
          </a:prstGeom>
          <a:solidFill>
            <a:srgbClr val="E6F0FA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leakage &amp; Domain 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315968"/>
            <a:ext cx="7266092" cy="3539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Tránh rò rỉ train/test và lưu ý khác biệt giữa dữ liệu huấn luyện và báo cáo thực tế.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4744247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Các phương pháp giải quyết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99999" y="6556248"/>
            <a:ext cx="150041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671169"/>
              </p:ext>
            </p:extLst>
          </p:nvPr>
        </p:nvGraphicFramePr>
        <p:xfrm>
          <a:off x="640080" y="96012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Phương </a:t>
                      </a:r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pháp</a:t>
                      </a:r>
                      <a:endParaRPr sz="15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Ưu</a:t>
                      </a:r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endParaRPr sz="15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chế</a:t>
                      </a:r>
                      <a:endParaRPr sz="15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Dummy Classifier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Mốc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tham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chiếu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tối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thiểu</a:t>
                      </a:r>
                      <a:endParaRPr sz="15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dung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Naive Bayes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Nhanh,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phù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thưa</a:t>
                      </a:r>
                      <a:endParaRPr sz="15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độc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endParaRPr sz="15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Hiệu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TF-IDF,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suất</a:t>
                      </a:r>
                      <a:endParaRPr sz="15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tuyến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endParaRPr sz="15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SVM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Tốt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vector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thưa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nhiều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chiều</a:t>
                      </a:r>
                      <a:endParaRPr sz="15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suất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trực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endParaRPr sz="15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FinBERT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Hiểu ngữ cảnh tài chính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Cần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lớn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chưa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nghiệm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endParaRPr sz="15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440680"/>
            <a:ext cx="7860485" cy="32316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Các mô hình truyền thống sử dụng TF-IDF + N-gram; FinBERT được trình bày như hướng mở rộng.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5646739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Ưu, nhược điểm và lý do lựa chọn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99999" y="6556248"/>
            <a:ext cx="150041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6642139" cy="1743554"/>
          </a:xfrm>
          <a:prstGeom prst="rect">
            <a:avLst/>
          </a:prstGeom>
          <a:noFill/>
        </p:spPr>
        <p:txBody>
          <a:bodyPr wrap="none" lIns="73152" tIns="18288" rIns="45720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Neutral chiếm 62,15%, dữ liệu mất cân bằng.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Macro-F1 được chọn làm chỉ số chính, thay vì chỉ dựa vào Accuracy.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Linear SVM có Accuracy validation cao nhất: 0,8668.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Logistic Regression có Macro-F1 validation cao nhất: 0,8058.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Test chỉ được dùng sau khi khóa mô hình.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6066" y="3749040"/>
            <a:ext cx="4206240" cy="2103120"/>
          </a:xfrm>
          <a:prstGeom prst="roundRect">
            <a:avLst/>
          </a:prstGeom>
          <a:solidFill>
            <a:srgbClr val="E6F0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2400" b="1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 hình được chọn</a:t>
            </a:r>
          </a:p>
          <a:p>
            <a:pPr algn="ctr"/>
            <a:endParaRPr sz="2400" b="1" i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400" b="1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9617" y="6236208"/>
            <a:ext cx="4579139" cy="32316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Lựa chọn này nhất quán với tiêu chí đánh giá đã đặt trước.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3181320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Kiến trúc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99999" y="6556248"/>
            <a:ext cx="150041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2049600" cy="32316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Huấn luyện và đánh giá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214884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</a:t>
            </a:r>
          </a:p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PhraseBank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1440180"/>
            <a:ext cx="502920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1097280"/>
            <a:ext cx="214884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tra</a:t>
            </a:r>
          </a:p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 liệu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0" y="1440180"/>
            <a:ext cx="502920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97880" y="1097280"/>
            <a:ext cx="214884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Tiền xử lý</a:t>
            </a:r>
          </a:p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EDA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46720" y="1440180"/>
            <a:ext cx="502920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49640" y="1097280"/>
            <a:ext cx="214884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Chia tập</a:t>
            </a:r>
          </a:p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70/15/15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48840"/>
            <a:ext cx="192024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N-gram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14600" y="2491740"/>
            <a:ext cx="320040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34640" y="2148840"/>
            <a:ext cx="192024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endParaRPr sz="15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4754880" y="2491740"/>
            <a:ext cx="320040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74920" y="2148840"/>
            <a:ext cx="192024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95160" y="2491740"/>
            <a:ext cx="320040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0" y="2148840"/>
            <a:ext cx="192024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 giá</a:t>
            </a:r>
          </a:p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5440" y="2491740"/>
            <a:ext cx="320040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55480" y="2148840"/>
            <a:ext cx="192024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</a:p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246120"/>
            <a:ext cx="1782026" cy="32316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ứng dụng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611880"/>
            <a:ext cx="192024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</a:p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14600" y="4000500"/>
            <a:ext cx="320040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834640" y="3611880"/>
            <a:ext cx="192024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</a:t>
            </a:r>
          </a:p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(Streamlit)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54880" y="4000500"/>
            <a:ext cx="320040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74920" y="3611880"/>
            <a:ext cx="192024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 câu</a:t>
            </a:r>
          </a:p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/PDF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5160" y="4000500"/>
            <a:ext cx="320040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15200" y="3611880"/>
            <a:ext cx="192024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 đoán</a:t>
            </a:r>
          </a:p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nhãn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40" y="4000500"/>
            <a:ext cx="320040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55480" y="3611880"/>
            <a:ext cx="192024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</a:t>
            </a:r>
          </a:p>
          <a:p>
            <a:pPr algn="ctr"/>
            <a:r>
              <a:rPr sz="15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trực quan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983480"/>
            <a:ext cx="5773312" cy="981935"/>
          </a:xfrm>
          <a:prstGeom prst="rect">
            <a:avLst/>
          </a:prstGeom>
          <a:noFill/>
        </p:spPr>
        <p:txBody>
          <a:bodyPr wrap="none" lIns="73152" tIns="18288" rIns="45720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3408947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và tiền xử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99999" y="6556248"/>
            <a:ext cx="150041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635175"/>
              </p:ext>
            </p:extLst>
          </p:nvPr>
        </p:nvGraphicFramePr>
        <p:xfrm>
          <a:off x="640080" y="914400"/>
          <a:ext cx="47548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 tin</a:t>
                      </a: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endParaRPr sz="15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Mẫu</a:t>
                      </a:r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ban </a:t>
                      </a:r>
                      <a:r>
                        <a:rPr sz="15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đầu</a:t>
                      </a:r>
                      <a:endParaRPr sz="15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3.453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 loại trùng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3.448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 – 12,16%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Neutral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2.146 – 62,15%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887 – 25,69%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/ Validation / Test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2.412 / 518 / 518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Giao nhau giữa các tập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06440" y="1005840"/>
            <a:ext cx="5326586" cy="1387559"/>
          </a:xfrm>
          <a:prstGeom prst="rect">
            <a:avLst/>
          </a:prstGeom>
          <a:noFill/>
        </p:spPr>
        <p:txBody>
          <a:bodyPr wrap="none" lIns="73152" tIns="18288" rIns="45720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Chuẩn hóa Unicode và khoảng trắng.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Lowercase riêng cho TF-IDF.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Giữ số, phần trăm, tiền tệ và từ phủ định.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444444"/>
                </a:solidFill>
                <a:latin typeface="Aptos"/>
              </a:defRPr>
            </a:pPr>
            <a:r>
              <a:rPr sz="18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Loại trùng trước khi chia tập để giảm nguy cơ leakage.</a:t>
            </a:r>
          </a:p>
        </p:txBody>
      </p:sp>
      <p:pic>
        <p:nvPicPr>
          <p:cNvPr id="7" name="Picture 6" descr="fig_1_cell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429000"/>
            <a:ext cx="420624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4477764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EDA và đặc trưng văn bản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99999" y="6556248"/>
            <a:ext cx="150041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5" name="Picture 4" descr="fig_2_cell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4160520" cy="2606040"/>
          </a:xfrm>
          <a:prstGeom prst="rect">
            <a:avLst/>
          </a:prstGeom>
        </p:spPr>
      </p:pic>
      <p:pic>
        <p:nvPicPr>
          <p:cNvPr id="6" name="Picture 5" descr="fig_3_cell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914400"/>
            <a:ext cx="4160520" cy="26060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938117"/>
              </p:ext>
            </p:extLst>
          </p:nvPr>
        </p:nvGraphicFramePr>
        <p:xfrm>
          <a:off x="9464040" y="960120"/>
          <a:ext cx="2103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Đặc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trưng</a:t>
                      </a:r>
                      <a:endParaRPr sz="1300" b="1" i="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Tỷ lệ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 i="0" dirty="0" err="1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Câu</a:t>
                      </a:r>
                      <a:r>
                        <a:rPr sz="1300" b="0" i="0" dirty="0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chứa</a:t>
                      </a:r>
                      <a:r>
                        <a:rPr sz="1300" b="0" i="0" dirty="0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endParaRPr sz="1300" b="0" i="0" dirty="0">
                        <a:solidFill>
                          <a:srgbClr val="44444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57,72%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 i="0" dirty="0" err="1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Câu</a:t>
                      </a:r>
                      <a:r>
                        <a:rPr sz="1300" b="0" i="0" dirty="0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chứa</a:t>
                      </a:r>
                      <a:r>
                        <a:rPr sz="1300" b="0" i="0" dirty="0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sz="1300" b="0" i="0" dirty="0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trăm</a:t>
                      </a:r>
                      <a:endParaRPr sz="1300" b="0" i="0" dirty="0">
                        <a:solidFill>
                          <a:srgbClr val="44444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7,88%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Câu chứa tiền tệ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3,94%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Câu chứa phủ định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dirty="0">
                          <a:solidFill>
                            <a:srgbClr val="44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4,00%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114800"/>
            <a:ext cx="10652759" cy="61555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trăm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sắc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3149260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42291" y="6556248"/>
            <a:ext cx="207749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816370"/>
              </p:ext>
            </p:extLst>
          </p:nvPr>
        </p:nvGraphicFramePr>
        <p:xfrm>
          <a:off x="640080" y="1051560"/>
          <a:ext cx="47548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endParaRPr sz="15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Macro-F1</a:t>
                      </a: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0,8629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0,8058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SVM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0,8668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0,8021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Naive Bayes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0,8359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0,7458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Dummy Classifier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0,6216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0,2556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997847"/>
              </p:ext>
            </p:extLst>
          </p:nvPr>
        </p:nvGraphicFramePr>
        <p:xfrm>
          <a:off x="5715000" y="914400"/>
          <a:ext cx="56692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538232" y="4617720"/>
            <a:ext cx="8993616" cy="3539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Macro-F1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 SVM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nhỉnh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2080057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42291" y="6556248"/>
            <a:ext cx="207749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864273"/>
              </p:ext>
            </p:extLst>
          </p:nvPr>
        </p:nvGraphicFramePr>
        <p:xfrm>
          <a:off x="777240" y="960120"/>
          <a:ext cx="4206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sz="16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endParaRPr sz="16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0,8571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Precision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0,8487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Recall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0,7842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Macro-F1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0,8100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Weighted-F1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0,8545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203426"/>
              </p:ext>
            </p:extLst>
          </p:nvPr>
        </p:nvGraphicFramePr>
        <p:xfrm>
          <a:off x="5349240" y="960120"/>
          <a:ext cx="59893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5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Nhãn</a:t>
                      </a:r>
                      <a:endParaRPr sz="15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</a:t>
                      </a:r>
                    </a:p>
                  </a:txBody>
                  <a:tcPr marL="36576" marR="36576" marT="18288" marB="1828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0,65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Neutral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0,89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0,93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0,91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322</a:t>
                      </a:r>
                    </a:p>
                  </a:txBody>
                  <a:tcPr marL="36576" marR="36576" marT="18288" marB="1828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0" y="3703320"/>
            <a:ext cx="5054076" cy="981935"/>
          </a:xfrm>
          <a:prstGeom prst="rect">
            <a:avLst/>
          </a:prstGeom>
          <a:noFill/>
        </p:spPr>
        <p:txBody>
          <a:bodyPr wrap="none" lIns="73152" tIns="18288" rIns="45720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Neutral có F1 cao nhất: 0,91.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Negative có Recall thấp nhất: 0,65.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Kết quả phản ánh ảnh hưởng của mất cân bằng dữ liệu.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5419882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 i="0">
                <a:latin typeface="Aptos Display"/>
              </a:rPr>
              <a:t>Confusion matrix và phân tích lỗi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5879" y="6556248"/>
            <a:ext cx="214161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81218" y="728376"/>
            <a:ext cx="1153521" cy="2923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1" i="0" dirty="0" err="1">
                <a:latin typeface="Aptos"/>
              </a:rPr>
              <a:t>Nhãn</a:t>
            </a:r>
            <a:r>
              <a:rPr sz="1300" b="1" i="0" dirty="0">
                <a:latin typeface="Aptos"/>
              </a:rPr>
              <a:t> </a:t>
            </a:r>
            <a:r>
              <a:rPr sz="1300" b="1" i="0" dirty="0" err="1">
                <a:latin typeface="Aptos"/>
              </a:rPr>
              <a:t>dự</a:t>
            </a:r>
            <a:r>
              <a:rPr sz="1300" b="1" i="0" dirty="0">
                <a:latin typeface="Aptos"/>
              </a:rPr>
              <a:t> </a:t>
            </a:r>
            <a:r>
              <a:rPr sz="1300" b="1" i="0" dirty="0" err="1">
                <a:latin typeface="Aptos"/>
              </a:rPr>
              <a:t>đoán</a:t>
            </a:r>
            <a:endParaRPr sz="1300" b="1" i="0" dirty="0"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551" y="2343911"/>
            <a:ext cx="292388" cy="983367"/>
          </a:xfrm>
          <a:prstGeom prst="rect">
            <a:avLst/>
          </a:prstGeom>
          <a:noFill/>
        </p:spPr>
        <p:txBody>
          <a:bodyPr vert="vert270" wrap="square" lIns="45720" rIns="45720" anchor="t">
            <a:spAutoFit/>
          </a:bodyPr>
          <a:lstStyle/>
          <a:p>
            <a:pPr algn="ctr"/>
            <a:r>
              <a:rPr sz="1300" b="1" i="0" dirty="0" err="1">
                <a:latin typeface="Aptos"/>
              </a:rPr>
              <a:t>Nhãn</a:t>
            </a:r>
            <a:r>
              <a:rPr sz="1300" b="1" i="0" dirty="0">
                <a:latin typeface="Aptos"/>
              </a:rPr>
              <a:t> </a:t>
            </a:r>
            <a:r>
              <a:rPr sz="1300" b="1" i="0" dirty="0" err="1">
                <a:latin typeface="Aptos"/>
              </a:rPr>
              <a:t>thật</a:t>
            </a:r>
            <a:endParaRPr sz="1300" b="1" i="0" dirty="0"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33872" y="1060027"/>
            <a:ext cx="6062472" cy="1957202"/>
          </a:xfrm>
          <a:prstGeom prst="rect">
            <a:avLst/>
          </a:prstGeom>
          <a:noFill/>
        </p:spPr>
        <p:txBody>
          <a:bodyPr wrap="square" lIns="73152" tIns="18288" rIns="45720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Aptos"/>
              </a:rPr>
              <a:t>• 518 </a:t>
            </a:r>
            <a:r>
              <a:rPr sz="1700" b="0" i="0" dirty="0" err="1">
                <a:latin typeface="Aptos"/>
              </a:rPr>
              <a:t>mẫu</a:t>
            </a:r>
            <a:r>
              <a:rPr sz="1700" b="0" i="0" dirty="0">
                <a:latin typeface="Aptos"/>
              </a:rPr>
              <a:t> test; 74 </a:t>
            </a:r>
            <a:r>
              <a:rPr sz="1700" b="0" i="0" dirty="0" err="1">
                <a:latin typeface="Aptos"/>
              </a:rPr>
              <a:t>mẫu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sai</a:t>
            </a:r>
            <a:r>
              <a:rPr sz="1700" b="0" i="0" dirty="0">
                <a:latin typeface="Aptos"/>
              </a:rPr>
              <a:t>, </a:t>
            </a:r>
            <a:r>
              <a:rPr sz="1700" b="0" i="0" dirty="0" err="1">
                <a:latin typeface="Aptos"/>
              </a:rPr>
              <a:t>tỷ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lệ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lỗi</a:t>
            </a:r>
            <a:r>
              <a:rPr sz="1700" b="0" i="0" dirty="0">
                <a:latin typeface="Aptos"/>
              </a:rPr>
              <a:t> 14,29%.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Aptos"/>
              </a:rPr>
              <a:t>• Positive → Neutral </a:t>
            </a:r>
            <a:r>
              <a:rPr sz="1700" b="0" i="0" dirty="0" err="1">
                <a:latin typeface="Aptos"/>
              </a:rPr>
              <a:t>là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kiểu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nhầm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nhiều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nhất</a:t>
            </a:r>
            <a:r>
              <a:rPr sz="1700" b="0" i="0" dirty="0">
                <a:latin typeface="Aptos"/>
              </a:rPr>
              <a:t>: 28 </a:t>
            </a:r>
            <a:r>
              <a:rPr sz="1700" b="0" i="0" dirty="0" err="1">
                <a:latin typeface="Aptos"/>
              </a:rPr>
              <a:t>câu</a:t>
            </a:r>
            <a:r>
              <a:rPr sz="1700" b="0" i="0" dirty="0">
                <a:latin typeface="Aptos"/>
              </a:rPr>
              <a:t>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Aptos"/>
              </a:rPr>
              <a:t>• Neutral → Positive: 19; Negative → Positive: 12.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Aptos"/>
              </a:rPr>
              <a:t>• </a:t>
            </a:r>
            <a:r>
              <a:rPr sz="1700" b="0" i="0" dirty="0" err="1">
                <a:latin typeface="Aptos"/>
              </a:rPr>
              <a:t>Câu</a:t>
            </a:r>
            <a:r>
              <a:rPr sz="1700" b="0" i="0" dirty="0">
                <a:latin typeface="Aptos"/>
              </a:rPr>
              <a:t> 21–30 </a:t>
            </a:r>
            <a:r>
              <a:rPr sz="1700" b="0" i="0" dirty="0" err="1">
                <a:latin typeface="Aptos"/>
              </a:rPr>
              <a:t>từ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có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tỷ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lệ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lỗi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cao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nhất</a:t>
            </a:r>
            <a:r>
              <a:rPr sz="1700" b="0" i="0" dirty="0">
                <a:latin typeface="Aptos"/>
              </a:rPr>
              <a:t>: 18,64%.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Aptos"/>
              </a:rPr>
              <a:t>• </a:t>
            </a:r>
            <a:r>
              <a:rPr sz="1700" b="0" i="0" dirty="0" err="1">
                <a:latin typeface="Aptos"/>
              </a:rPr>
              <a:t>Câu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nhiều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mệnh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đề</a:t>
            </a:r>
            <a:r>
              <a:rPr sz="1700" b="0" i="0" dirty="0">
                <a:latin typeface="Aptos"/>
              </a:rPr>
              <a:t>, </a:t>
            </a:r>
            <a:r>
              <a:rPr sz="1700" b="0" i="0" dirty="0" err="1">
                <a:latin typeface="Aptos"/>
              </a:rPr>
              <a:t>thiếu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ngữ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cảnh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hoặc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tín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hiệu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trái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chiều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dễ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bị</a:t>
            </a:r>
            <a:r>
              <a:rPr sz="1700" b="0" i="0" dirty="0">
                <a:latin typeface="Aptos"/>
              </a:rPr>
              <a:t> </a:t>
            </a:r>
            <a:r>
              <a:rPr sz="1700" b="0" i="0" dirty="0" err="1">
                <a:latin typeface="Aptos"/>
              </a:rPr>
              <a:t>nhầm</a:t>
            </a:r>
            <a:r>
              <a:rPr sz="1700" b="0" i="0" dirty="0">
                <a:latin typeface="Aptos"/>
              </a:rPr>
              <a:t>.</a:t>
            </a:r>
          </a:p>
        </p:txBody>
      </p:sp>
      <p:graphicFrame>
        <p:nvGraphicFramePr>
          <p:cNvPr id="23" name="Bảng 22">
            <a:extLst>
              <a:ext uri="{FF2B5EF4-FFF2-40B4-BE49-F238E27FC236}">
                <a16:creationId xmlns:a16="http://schemas.microsoft.com/office/drawing/2014/main" id="{4CC35456-983D-306D-C7AA-701A74B19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998485"/>
              </p:ext>
            </p:extLst>
          </p:nvPr>
        </p:nvGraphicFramePr>
        <p:xfrm>
          <a:off x="712713" y="1080006"/>
          <a:ext cx="4690532" cy="32579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2633">
                  <a:extLst>
                    <a:ext uri="{9D8B030D-6E8A-4147-A177-3AD203B41FA5}">
                      <a16:colId xmlns:a16="http://schemas.microsoft.com/office/drawing/2014/main" val="4127922946"/>
                    </a:ext>
                  </a:extLst>
                </a:gridCol>
                <a:gridCol w="1172633">
                  <a:extLst>
                    <a:ext uri="{9D8B030D-6E8A-4147-A177-3AD203B41FA5}">
                      <a16:colId xmlns:a16="http://schemas.microsoft.com/office/drawing/2014/main" val="1764787848"/>
                    </a:ext>
                  </a:extLst>
                </a:gridCol>
                <a:gridCol w="1172633">
                  <a:extLst>
                    <a:ext uri="{9D8B030D-6E8A-4147-A177-3AD203B41FA5}">
                      <a16:colId xmlns:a16="http://schemas.microsoft.com/office/drawing/2014/main" val="2811462699"/>
                    </a:ext>
                  </a:extLst>
                </a:gridCol>
                <a:gridCol w="1172633">
                  <a:extLst>
                    <a:ext uri="{9D8B030D-6E8A-4147-A177-3AD203B41FA5}">
                      <a16:colId xmlns:a16="http://schemas.microsoft.com/office/drawing/2014/main" val="1588739113"/>
                    </a:ext>
                  </a:extLst>
                </a:gridCol>
              </a:tblGrid>
              <a:tr h="814494">
                <a:tc>
                  <a:txBody>
                    <a:bodyPr/>
                    <a:lstStyle/>
                    <a:p>
                      <a:pPr algn="ctr"/>
                      <a:endParaRPr lang="vi-VN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 err="1"/>
                        <a:t>Negative</a:t>
                      </a:r>
                      <a:endParaRPr lang="vi-VN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 err="1"/>
                        <a:t>Neutral</a:t>
                      </a:r>
                      <a:endParaRPr lang="vi-VN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 err="1"/>
                        <a:t>Positive</a:t>
                      </a:r>
                      <a:endParaRPr lang="vi-VN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856889"/>
                  </a:ext>
                </a:extLst>
              </a:tr>
              <a:tr h="81449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dirty="0" err="1"/>
                        <a:t>Negative</a:t>
                      </a:r>
                      <a:endParaRPr lang="vi-VN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607444"/>
                  </a:ext>
                </a:extLst>
              </a:tr>
              <a:tr h="814494">
                <a:tc>
                  <a:txBody>
                    <a:bodyPr/>
                    <a:lstStyle/>
                    <a:p>
                      <a:pPr algn="ctr"/>
                      <a:r>
                        <a:rPr lang="vi-VN" dirty="0" err="1"/>
                        <a:t>Neutral</a:t>
                      </a:r>
                      <a:endParaRPr lang="vi-VN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0633620"/>
                  </a:ext>
                </a:extLst>
              </a:tr>
              <a:tr h="814494">
                <a:tc>
                  <a:txBody>
                    <a:bodyPr/>
                    <a:lstStyle/>
                    <a:p>
                      <a:pPr algn="ctr"/>
                      <a:r>
                        <a:rPr lang="vi-VN" dirty="0" err="1"/>
                        <a:t>Positive</a:t>
                      </a:r>
                      <a:endParaRPr lang="vi-VN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4132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5096716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ứng dụng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42291" y="6556248"/>
            <a:ext cx="207749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96596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Notebook</a:t>
            </a:r>
          </a:p>
          <a:p>
            <a:pPr algn="ctr"/>
            <a:r>
              <a:rPr sz="1600" b="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sz="16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endParaRPr sz="16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697480" y="1668780"/>
            <a:ext cx="256032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53511" y="1234440"/>
            <a:ext cx="196596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</a:p>
          <a:p>
            <a:pPr algn="ctr"/>
            <a:r>
              <a:rPr sz="1600" b="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sz="16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919471" y="1668780"/>
            <a:ext cx="256032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75503" y="1234440"/>
            <a:ext cx="196596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</a:p>
          <a:p>
            <a:pPr algn="ctr"/>
            <a:r>
              <a:rPr sz="16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41463" y="1668780"/>
            <a:ext cx="256032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97496" y="1234440"/>
            <a:ext cx="196596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</a:t>
            </a:r>
          </a:p>
          <a:p>
            <a:pPr algn="ctr"/>
            <a:r>
              <a:rPr sz="16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 câu/PDF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63456" y="1668780"/>
            <a:ext cx="256032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19488" y="1234440"/>
            <a:ext cx="196596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</a:t>
            </a:r>
          </a:p>
          <a:p>
            <a:pPr algn="ctr"/>
            <a:r>
              <a:rPr sz="16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5406224" cy="1321003"/>
          </a:xfrm>
          <a:prstGeom prst="rect">
            <a:avLst/>
          </a:prstGeom>
          <a:noFill/>
        </p:spPr>
        <p:txBody>
          <a:bodyPr wrap="none" lIns="73152" tIns="18288" rIns="45720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Pipeline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TF-IDF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st.cache_resource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GitHub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19871" y="2552700"/>
            <a:ext cx="3899617" cy="1900767"/>
          </a:xfrm>
          <a:prstGeom prst="roundRect">
            <a:avLst/>
          </a:prstGeom>
          <a:solidFill>
            <a:srgbClr val="E6F0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800" b="1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tab </a:t>
            </a:r>
            <a:r>
              <a:rPr sz="1800" b="1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sz="1800" b="1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1800" b="1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800" b="1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sz="1800" b="1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sz="1800" b="1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sz="1800" b="1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800" b="1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sz="1800" b="1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sz="1800" b="1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PDF • Thông tin </a:t>
            </a:r>
            <a:r>
              <a:rPr sz="1800" b="1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sz="1800" b="1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endParaRPr sz="1800" b="1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49892" y="4754880"/>
            <a:ext cx="5239576" cy="32316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có predict_proba để hiển thị xác suất từng lớp.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4531049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Demo và luồng người dùng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621792"/>
            <a:ext cx="10652760" cy="13716"/>
          </a:xfrm>
          <a:prstGeom prst="rect">
            <a:avLst/>
          </a:prstGeom>
          <a:solidFill>
            <a:srgbClr val="D2DAE2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42291" y="6556248"/>
            <a:ext cx="207749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pic>
        <p:nvPicPr>
          <p:cNvPr id="5" name="Picture 4" descr="app_preview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746" y="805365"/>
            <a:ext cx="8554721" cy="283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2346" y="3842173"/>
            <a:ext cx="2006318" cy="3693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Luồng dự đoán câu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346" y="4345093"/>
            <a:ext cx="9144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5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 câu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86746" y="4642273"/>
            <a:ext cx="118872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605618" y="4345093"/>
            <a:ext cx="9144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50" b="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Bấm</a:t>
            </a:r>
            <a:r>
              <a:rPr sz="115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sz="115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endParaRPr sz="115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520018" y="4642273"/>
            <a:ext cx="118872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38890" y="4345093"/>
            <a:ext cx="9144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5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53290" y="4642273"/>
            <a:ext cx="118872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72162" y="4345093"/>
            <a:ext cx="9144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5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86562" y="4642273"/>
            <a:ext cx="118871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05433" y="4345093"/>
            <a:ext cx="9144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5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Nhãn &amp; xác suất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346" y="5305213"/>
            <a:ext cx="1240083" cy="3693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Luồng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2346" y="5808133"/>
            <a:ext cx="9144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50" b="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sz="1150" b="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PDF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86746" y="6105313"/>
            <a:ext cx="118872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605618" y="5808133"/>
            <a:ext cx="9144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5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Trích text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20018" y="6105313"/>
            <a:ext cx="118872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638890" y="5808133"/>
            <a:ext cx="9144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5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Tách câu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53290" y="6105313"/>
            <a:ext cx="118872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72162" y="5808133"/>
            <a:ext cx="9144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5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 đoán batch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86562" y="6105313"/>
            <a:ext cx="118871" cy="0"/>
          </a:xfrm>
          <a:prstGeom prst="line">
            <a:avLst/>
          </a:prstGeom>
          <a:ln w="1524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05433" y="5808133"/>
            <a:ext cx="9144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5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Bảng/CSV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9973" y="4570501"/>
            <a:ext cx="3976680" cy="1557478"/>
          </a:xfrm>
          <a:prstGeom prst="rect">
            <a:avLst/>
          </a:prstGeom>
          <a:noFill/>
        </p:spPr>
        <p:txBody>
          <a:bodyPr wrap="square" lIns="73152" tIns="18288" rIns="45720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PDF scan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OCR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sắc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khuyến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PDF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6348854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luận, hạn chế và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42291" y="6556248"/>
            <a:ext cx="207749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2004716" cy="40011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đạt được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318572" cy="1660070"/>
          </a:xfrm>
          <a:prstGeom prst="rect">
            <a:avLst/>
          </a:prstGeom>
          <a:noFill/>
        </p:spPr>
        <p:txBody>
          <a:bodyPr wrap="none" lIns="73152" tIns="18288" rIns="45720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Hoàn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 NLP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Logistic Regression.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Validation Macro-F1: 0,8058.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Test Accuracy: 0,8571; Test Macro-F1: 0,8100.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17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960120"/>
            <a:ext cx="3243837" cy="40011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Hạn chế và hướng phát triển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5173917" cy="1660070"/>
          </a:xfrm>
          <a:prstGeom prst="rect">
            <a:avLst/>
          </a:prstGeom>
          <a:noFill/>
        </p:spPr>
        <p:txBody>
          <a:bodyPr wrap="none" lIns="73152" tIns="18288" rIns="45720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Hạn chế: dữ liệu mất cân bằng, Negative ít mẫu.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TF-IDF chưa hiểu đầy đủ ngữ cảnh sâu.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PDF scan và tài liệu nhiều cột còn khó xử lý.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Hướng phát triển: FinBERT, OCR, dữ liệu báo cáo thực.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444444"/>
                </a:solidFill>
                <a:latin typeface="Aptos"/>
              </a:defRPr>
            </a:pPr>
            <a:r>
              <a:rPr sz="17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• Mở rộng tiếng Việt và lưu lịch sử phân tích.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5166360"/>
            <a:ext cx="7406640" cy="685800"/>
          </a:xfrm>
          <a:prstGeom prst="roundRect">
            <a:avLst/>
          </a:prstGeom>
          <a:solidFill>
            <a:srgbClr val="E6F0FA"/>
          </a:solidFill>
          <a:ln w="1397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hỗ trợ phân tích ngôn ngữ tài chính, nhưng không thay thế đánh giá tài chính chuyên sâu.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05425" y="2844225"/>
            <a:ext cx="7381149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2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sz="3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sz="3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sz="3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3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3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sz="3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sz="3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sz="3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endParaRPr sz="3200" b="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05753" y="3749039"/>
            <a:ext cx="6241453" cy="58477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https://github.com/ngtd-2609/financial-sentiment-analysis-app.git</a:t>
            </a:r>
          </a:p>
          <a:p>
            <a:pPr algn="ctr"/>
            <a:r>
              <a:rPr sz="16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1600" dirty="0"/>
              <a:t>https://financial-sentiment-analysis-ntd.streamlit.app/</a:t>
            </a:r>
            <a:endParaRPr sz="1600" b="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42291" y="6556248"/>
            <a:ext cx="207749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7878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1433</Words>
  <Application>Microsoft Office PowerPoint</Application>
  <PresentationFormat>Màn hình rộng</PresentationFormat>
  <Paragraphs>286</Paragraphs>
  <Slides>16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Times New Roman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Tùng Dương Nguyễn</cp:lastModifiedBy>
  <cp:revision>2</cp:revision>
  <dcterms:created xsi:type="dcterms:W3CDTF">2013-01-27T09:14:16Z</dcterms:created>
  <dcterms:modified xsi:type="dcterms:W3CDTF">2026-07-27T12:55:58Z</dcterms:modified>
  <cp:category/>
</cp:coreProperties>
</file>