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PHÂN TÍCH CẢM XÚC VĂN BẢN TÀI CHÍNH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2057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4444"/>
                </a:solidFill>
              </a:rPr>
              <a:t>Ứng dụng trên báo cáo thường niên của doanh nghiệp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288036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Môn: Xử lý ngôn ngữ tự nhiên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4290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Nguyễn Tùng Dương • Phạm Thế Duy • Ngô Quang Thiện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51663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65D"/>
                </a:solidFill>
              </a:rPr>
              <a:t>Theo hướng ứng dụng: lý thuyết → phương pháp → giải pháp → demo &amp; đánh giá → kết luận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Thành viên và phân công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5240">
            <a:solidFill>
              <a:srgbClr val="B7C9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28346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Thành viên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566160" y="1417320"/>
            <a:ext cx="66751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Phần việc chính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41280" y="1417320"/>
            <a:ext cx="10972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Tỷ trọng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075688"/>
            <a:ext cx="28346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Nguyễn Tùng Dương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66160" y="2075688"/>
            <a:ext cx="66751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Dữ liệu, tiền xử lý, EDA, chia dữ liệu và báo cáo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0" y="2075688"/>
            <a:ext cx="10972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34%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734056"/>
            <a:ext cx="28346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Phạm Thế Duy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2734056"/>
            <a:ext cx="66751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Mô hình, huấn luyện, đánh giá và phân tích lỗi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0" y="2734056"/>
            <a:ext cx="10972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33%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392424"/>
            <a:ext cx="28346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Ngô Quang Thiện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3392424"/>
            <a:ext cx="66751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Demo, phần PDF, slide và kiểm tra bản cuối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241280" y="3392424"/>
            <a:ext cx="10972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33%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Tổng tỷ trọng: 100%. FinBERT và PDF chỉ trình bày là phần mở rộng nếu chưa có output hợp lệ.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Bài toán ứng dụng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5240">
            <a:solidFill>
              <a:srgbClr val="B7C9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887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44444"/>
                </a:solidFill>
              </a:rPr>
              <a:t>• Đầu vào: một câu tiếng Anh trong miền tài chính.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" y="17190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44444"/>
                </a:solidFill>
              </a:rPr>
              <a:t>• Đầu ra: negative, neutral hoặc positive.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224942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44444"/>
                </a:solidFill>
              </a:rPr>
              <a:t>• Mục tiêu: xây dựng pipeline NLP có thể chạy lại, đánh giá bằng metric và demo dự đoán câu mới.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277977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44444"/>
                </a:solidFill>
              </a:rPr>
              <a:t>• Ranh giới: không phải khuyến nghị đầu tư hoặc đánh giá sức khỏe tài chính toàn diện.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Cơ sở lý thuyết cần dùng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5240">
            <a:solidFill>
              <a:srgbClr val="B7C9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972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Phân loại văn bản: học có giám sát với ba nhãn.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60934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TF-IDF: biểu diễn từ/cụm từ theo tần suất và độ hiếm.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Macro-F1: trung bình F1 đều giữa các lớp, phù hợp khi dữ liệu mất cân bằng.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334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Confusion matrix: phân tích mô hình nhầm lớp nào với lớp nào.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14553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Domain shift: khác biệt giữa Financial PhraseBank và báo cáo thường niên.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Các phương pháp giải quyết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5240">
            <a:solidFill>
              <a:srgbClr val="B7C9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2194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Phương pháp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34640" y="1143000"/>
            <a:ext cx="41148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Ưu điểm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49440" y="1143000"/>
            <a:ext cx="4480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</a:rPr>
              <a:t>Hạn chế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2194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Dummy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1709928"/>
            <a:ext cx="41148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Mốc tham chiếu tối thiểu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0" y="1709928"/>
            <a:ext cx="4480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Không học nội dung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276856"/>
            <a:ext cx="2194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Naive Bayes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2276856"/>
            <a:ext cx="41148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Nhanh, dễ cài đặt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276856"/>
            <a:ext cx="4480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Khó hiểu ngữ cảnh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843784"/>
            <a:ext cx="2194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Logistic Regression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2843784"/>
            <a:ext cx="41148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Baseline mạnh với TF-IDF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0" y="2843784"/>
            <a:ext cx="4480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Tuyến tính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410712"/>
            <a:ext cx="2194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Linear SVM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34640" y="3410712"/>
            <a:ext cx="41148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Tốt với vector thưa nhiều chiều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3410712"/>
            <a:ext cx="4480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Không có xác suất trực tiếp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2194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FinBERT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34640" y="3977640"/>
            <a:ext cx="41148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Hiểu ngữ cảnh tài chính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49440" y="3977640"/>
            <a:ext cx="4480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</a:rPr>
              <a:t>Cần GPU, chưa chạy hợp lệ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Lý do lựa chọn phương pháp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5240">
            <a:solidFill>
              <a:srgbClr val="B7C9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44444"/>
                </a:solidFill>
              </a:rPr>
              <a:t>• Dữ liệu vừa phải nên TF-IDF kết hợp mô hình tuyến tính là lựa chọn hợp lý.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44444"/>
                </a:solidFill>
              </a:rPr>
              <a:t>• Dữ liệu mất cân bằng: Neutral chiếm 62,15%, do đó chọn mô hình bằng Macro-F1.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44444"/>
                </a:solidFill>
              </a:rPr>
              <a:t>• Linear SVM đạt validation Macro-F1 cao nhất: 0,8021.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44444"/>
                </a:solidFill>
              </a:rPr>
              <a:t>• Test chỉ được dùng sau khi đã khóa mô hình tốt nhất.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Kiến trúc hệ thống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5240">
            <a:solidFill>
              <a:srgbClr val="B7C9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1088136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444444"/>
                </a:solidFill>
              </a:rPr>
              <a:t>Financial PhraseBank → Kiểm tra dữ liệu → Tiền xử lý → EDA → Loại trùng → Chia tập → TF-IDF → Huấn luyện mô hình → Chọn bằng validation → Test → Phân tích lỗi → Demo câu mới/PDF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38862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Một notebook duy nhất để chạy trên Colab hoặc VS Code.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3891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Không dùng test để chọn mô hình.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4892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Phần PDF được thiết kế nhưng chưa đánh giá nếu thiếu file PDF hợp lệ.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Dữ liệu và tiền xử lý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5240">
            <a:solidFill>
              <a:srgbClr val="B7C9DA"/>
            </a:solidFill>
            <a:prstDash val="solid"/>
          </a:ln>
        </p:spPr>
      </p:sp>
      <p:pic>
        <p:nvPicPr>
          <p:cNvPr id="4" name="Image 0" descr="/mnt/data/app_assets/fig_1_cell11.png">    </p:cNvPr>
          <p:cNvPicPr>
            <a:picLocks noChangeAspect="1"/>
          </p:cNvPicPr>
          <p:nvPr/>
        </p:nvPicPr>
        <p:blipFill>
          <a:blip r:embed="rId1"/>
          <a:srcRect l="4051" r="4051" t="0" b="0"/>
          <a:stretch/>
        </p:blipFill>
        <p:spPr>
          <a:xfrm>
            <a:off x="685800" y="1115568"/>
            <a:ext cx="521208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72200" y="1234440"/>
            <a:ext cx="2743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Thông tin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915400" y="1234440"/>
            <a:ext cx="2468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Giá trị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172200" y="1709928"/>
            <a:ext cx="2743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Mẫu ban đầu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15400" y="1709928"/>
            <a:ext cx="2468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3.453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72200" y="2185416"/>
            <a:ext cx="2743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Sau loại trùng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15400" y="2185416"/>
            <a:ext cx="2468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3.448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72200" y="2660904"/>
            <a:ext cx="2743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Negative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15400" y="2660904"/>
            <a:ext cx="2468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420 (12,16%)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72200" y="3136392"/>
            <a:ext cx="2743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Neutral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915400" y="3136392"/>
            <a:ext cx="2468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2.146 (62,15%)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172200" y="3611880"/>
            <a:ext cx="2743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Positive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915400" y="3611880"/>
            <a:ext cx="2468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887 (25,69%)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72200" y="4480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365D"/>
                </a:solidFill>
              </a:rPr>
              <a:t>Neutral chiếm ưu thế nên Accuracy không đủ; Macro-F1 cần được ưu tiên.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đặc trưng văn bản tài chính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5240">
            <a:solidFill>
              <a:srgbClr val="B7C9DA"/>
            </a:solidFill>
            <a:prstDash val="solid"/>
          </a:ln>
        </p:spPr>
      </p:sp>
      <p:pic>
        <p:nvPicPr>
          <p:cNvPr id="4" name="Image 0" descr="/mnt/data/app_assets/fig_2_cell11.png">    </p:cNvPr>
          <p:cNvPicPr>
            <a:picLocks noChangeAspect="1"/>
          </p:cNvPicPr>
          <p:nvPr/>
        </p:nvPicPr>
        <p:blipFill>
          <a:blip r:embed="rId1"/>
          <a:srcRect l="1695" r="1695" t="0" b="0"/>
          <a:stretch/>
        </p:blipFill>
        <p:spPr>
          <a:xfrm>
            <a:off x="640080" y="1143000"/>
            <a:ext cx="5212080" cy="3566160"/>
          </a:xfrm>
          <a:prstGeom prst="rect">
            <a:avLst/>
          </a:prstGeom>
        </p:spPr>
      </p:pic>
      <p:pic>
        <p:nvPicPr>
          <p:cNvPr id="5" name="Image 1" descr="/mnt/data/app_assets/fig_3_cell11.png">    </p:cNvPr>
          <p:cNvPicPr>
            <a:picLocks noChangeAspect="1"/>
          </p:cNvPicPr>
          <p:nvPr/>
        </p:nvPicPr>
        <p:blipFill>
          <a:blip r:embed="rId2"/>
          <a:srcRect l="3553" r="3553" t="0" b="0"/>
          <a:stretch/>
        </p:blipFill>
        <p:spPr>
          <a:xfrm>
            <a:off x="6263640" y="1143000"/>
            <a:ext cx="5212080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51663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444444"/>
                </a:solidFill>
              </a:rPr>
              <a:t>57,72% câu có số; 7,88% có phần trăm; 3,94% có tiền tệ; 4,00% có phủ định.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quả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5240">
            <a:solidFill>
              <a:srgbClr val="B7C9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24231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Mô hình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54680" y="1005840"/>
            <a:ext cx="1097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Acc.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51960" y="1005840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Macro-F1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36192"/>
            <a:ext cx="24231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Linear SVM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54680" y="1536192"/>
            <a:ext cx="1097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0,8668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51960" y="1536192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0,8021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66544"/>
            <a:ext cx="24231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Logistic Reg.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54680" y="2066544"/>
            <a:ext cx="1097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0,8475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2066544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0,7823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596896"/>
            <a:ext cx="24231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Naive Bayes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54680" y="2596896"/>
            <a:ext cx="1097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0,7548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51960" y="2596896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0,5521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127248"/>
            <a:ext cx="24231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Dummy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54680" y="3127248"/>
            <a:ext cx="10972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0,6216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51960" y="3127248"/>
            <a:ext cx="1188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0,2556</a:t>
            </a:r>
            <a:endParaRPr lang="en-US" sz="1600" dirty="0"/>
          </a:p>
        </p:txBody>
      </p:sp>
      <p:pic>
        <p:nvPicPr>
          <p:cNvPr id="19" name="Image 0" descr="/mnt/data/app_assets/fig_5_cell21.png">    </p:cNvPr>
          <p:cNvPicPr>
            <a:picLocks noChangeAspect="1"/>
          </p:cNvPicPr>
          <p:nvPr/>
        </p:nvPicPr>
        <p:blipFill>
          <a:blip r:embed="rId1"/>
          <a:srcRect l="9627" r="9627" t="0" b="0"/>
          <a:stretch/>
        </p:blipFill>
        <p:spPr>
          <a:xfrm>
            <a:off x="5897880" y="914400"/>
            <a:ext cx="5486400" cy="3840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22960" y="4892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7365D"/>
                </a:solidFill>
              </a:rPr>
              <a:t>Linear SVM được chọn vì có validation Macro-F1 cao nhất.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quả test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5240">
            <a:solidFill>
              <a:srgbClr val="B7C9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Metric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566160" y="1143000"/>
            <a:ext cx="1280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Giá trị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55064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Accuracy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566160" y="1655064"/>
            <a:ext cx="1280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0,8687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167128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Macro Precision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66160" y="2167128"/>
            <a:ext cx="1280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0,8728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679192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Macro Recall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2679192"/>
            <a:ext cx="1280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0,7833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191256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Macro-F1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6160" y="3191256"/>
            <a:ext cx="1280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0,8172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28346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Weighted-F1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66160" y="3703320"/>
            <a:ext cx="1280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0,8645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69280" y="1143000"/>
            <a:ext cx="17373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Nhãn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406640" y="1143000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Prec.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1143000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Rec.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0" y="1143000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F1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669280" y="1655064"/>
            <a:ext cx="17373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Negative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06640" y="1655064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0,93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03920" y="1655064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0,62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01200" y="1655064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0,74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669280" y="2167128"/>
            <a:ext cx="17373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Neutral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06640" y="2167128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0,89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503920" y="2167128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0,96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01200" y="2167128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0,92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69280" y="2679192"/>
            <a:ext cx="17373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Positive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406640" y="2679192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0,80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503920" y="2679192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0,77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601200" y="2679192"/>
            <a:ext cx="10972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44444"/>
                </a:solidFill>
              </a:rPr>
              <a:t>0,79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22960" y="4983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7365D"/>
                </a:solidFill>
              </a:rPr>
              <a:t>Negative có Recall thấp nhất, cho thấy lớp thiểu số còn khó nhận diện.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 và phân tích lỗi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5240">
            <a:solidFill>
              <a:srgbClr val="B7C9DA"/>
            </a:solidFill>
            <a:prstDash val="solid"/>
          </a:ln>
        </p:spPr>
      </p:sp>
      <p:pic>
        <p:nvPicPr>
          <p:cNvPr id="4" name="Image 0" descr="/mnt/data/app_assets/fig_4_cell17.png">    </p:cNvPr>
          <p:cNvPicPr>
            <a:picLocks noChangeAspect="1"/>
          </p:cNvPicPr>
          <p:nvPr/>
        </p:nvPicPr>
        <p:blipFill>
          <a:blip r:embed="rId1"/>
          <a:srcRect l="0" r="0" t="259" b="259"/>
          <a:stretch/>
        </p:blipFill>
        <p:spPr>
          <a:xfrm>
            <a:off x="777240" y="1051560"/>
            <a:ext cx="530352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55080" y="132588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Negative: đúng 39/63; nhầm sang Neutral 11 và Positive 13.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55080" y="180136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Neutral: đúng 308/322, là lớp dễ nhận diện nhất.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55080" y="227685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Positive: đúng 103/133; nhầm sang Neutral 29.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55080" y="275234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• Lỗi thường gặp ở câu nhiều mệnh đề, thiếu ngữ cảnh hoặc có tín hiệu trái chiều.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câu mới và ứng dụng PDF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5240">
            <a:solidFill>
              <a:srgbClr val="B7C9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Notebook có cell demo dự đoán một số câu tài chính mới bằng mô hình tốt nhất.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6733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Ví dụ: “Revenue increased by 20%...” thường được dự đoán theo hướng Positive.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20370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PDF: thiết kế quy trình trích text → tách câu → lọc câu → dự đoán → tổng hợp nhãn.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3405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Trong lần chạy hiện tại chưa có PDF hợp lệ, nên không tạo tỷ lệ cảm xúc giả.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luận và hạn chế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5240">
            <a:solidFill>
              <a:srgbClr val="B7C9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972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Hoàn thành pipeline ứng dụng cơ bản cho phân tích cảm xúc tài chính.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Mô hình tốt nhất hiện tại: Linear SVM.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Validation Macro-F1: 0,8021; Test Macro-F1: 0,8172.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Hạn chế: dữ liệu mất cân bằng, Negative ít mẫu, chưa fine-tune FinBERT, chưa có PDF thật.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• Hướng phát triển: FinBERT GPU, class weight/tuning, gán nhãn báo cáo thường niên, mở rộng tiếng Việt.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1460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291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4444"/>
                </a:solidFill>
              </a:rPr>
              <a:t>Cảm ơn thầy/cô và các bạn đã lắng nghe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Triển khai ứng dụng Streamlit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App có 3 tab: dự đoán câu, phân tích PDF, thông tin mô hình</a:t>
            </a:r>
          </a:p>
          <a:p>
            <a:pPr>
              <a:defRPr sz="2000"/>
            </a:pPr>
            <a:r>
              <a:t>Model được xuất từ notebook dưới dạng Pipeline joblib</a:t>
            </a:r>
          </a:p>
          <a:p>
            <a:pPr>
              <a:defRPr sz="2000"/>
            </a:pPr>
            <a:r>
              <a:t>Ứng dụng không huấn luyện lại khi người dùng truy cập</a:t>
            </a:r>
          </a:p>
          <a:p>
            <a:pPr>
              <a:defRPr sz="2000"/>
            </a:pPr>
            <a:r>
              <a:t>Linear SVM hiển thị decision score, không phải xác suất</a:t>
            </a:r>
          </a:p>
          <a:p>
            <a:pPr>
              <a:defRPr sz="2000"/>
            </a:pPr>
            <a:r>
              <a:t>Link deploy: [STREAMLIT_APP_URL]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NLP 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Sentiment Analysis</dc:title>
  <dc:subject>NLP application report</dc:subject>
  <dc:creator>OpenAI</dc:creator>
  <cp:lastModifiedBy>OpenAI</cp:lastModifiedBy>
  <cp:revision>1</cp:revision>
  <dcterms:created xsi:type="dcterms:W3CDTF">2026-07-22T12:56:34Z</dcterms:created>
  <dcterms:modified xsi:type="dcterms:W3CDTF">2026-07-22T12:56:34Z</dcterms:modified>
</cp:coreProperties>
</file>